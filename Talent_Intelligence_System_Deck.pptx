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6366F1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Multi-Agent AI Hiring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Multi-Agent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28800" y="31546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</a:rPr>
              <a:t>Hybrid RAG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31546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</a:rPr>
              <a:t>Bias-Aware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Explainable AI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AI Enablement Internship  ·  Task 1: HR Resume Shortlisting Agent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0" y="45720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1E2D45">
              <a:alpha val="60000"/>
            </a:srgbClr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685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300+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0" y="1161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Candidates Screened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1645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8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0" y="2121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0" y="3081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Scoring Dimensions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95%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0" y="4041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Faster than Manual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screen hundreds of resumes manually — leading to fatigue, inconsistency, and bias.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1732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Human Fatigue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928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300+ resumes per role takes days and leads to inconsistent decisions.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Unconscious Bias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928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gender cues, and age indicators influence scoring without HR realising.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54864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No Explainability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can't justify why a candidate was rejected — black-box decisions create risk.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14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1752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Slow Time-to-Hire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49300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shortlisting delays the pipeline, causing top candidates to accept other offers.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Instead of Resume → GPT → Score, we built a production-grade Hybrid AI + ML Hiring Intelligence Platform.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931920" cy="3383280"/>
          </a:xfrm>
          <a:prstGeom prst="rect">
            <a:avLst/>
          </a:prstGeom>
          <a:solidFill>
            <a:srgbClr val="1A0A0A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❌  What Others Build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Resume → GPT Prompt →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No retrieval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No explainability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18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No bias mitigation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Hallucinates scores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999"/>
                </a:solidFill>
              </a:rPr>
              <a:t>✗  Single-agent, fragile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3931920" cy="3383280"/>
          </a:xfrm>
          <a:prstGeom prst="rect">
            <a:avLst/>
          </a:prstGeom>
          <a:solidFill>
            <a:srgbClr val="0A1A0F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✅  What We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Hybrid FAISS + BM25 Retrieval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58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Ensemble: LLM + Embeddings + BM25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88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Explainable dimension scores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118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Bias audit with PII masking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Confidence calibration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✓  Multi-agent LangGraph 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Layered enterprise architecture with multi-agent orchestration and hybrid retrieval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713232"/>
          </a:xfrm>
          <a:prstGeom prst="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7315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338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366F1"/>
                </a:solidFill>
              </a:rPr>
              <a:t>PRESENTATION LAYER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Streamlit Dashboard  ·  Sidebar Navigation  ·  HR Override  ·  Email Sender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792224"/>
            <a:ext cx="0" cy="91440"/>
          </a:xfrm>
          <a:prstGeom prst="line">
            <a:avLst/>
          </a:prstGeom>
          <a:noFill/>
          <a:ln w="190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01952"/>
            <a:ext cx="8412480" cy="713232"/>
          </a:xfrm>
          <a:prstGeom prst="rect">
            <a:avLst/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</a:rPr>
              <a:t>AGENT LAYER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2311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JD Agent  ·  Resume Parser Agent  ·  Scoring Agent  ·  Bias Audit Agent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615184"/>
            <a:ext cx="0" cy="91440"/>
          </a:xfrm>
          <a:prstGeom prst="line">
            <a:avLst/>
          </a:prstGeom>
          <a:noFill/>
          <a:ln w="190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24912"/>
            <a:ext cx="8412480" cy="713232"/>
          </a:xfrm>
          <a:prstGeom prst="rect">
            <a:avLst/>
          </a:prstGeom>
          <a:solidFill>
            <a:srgbClr val="11182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24912"/>
            <a:ext cx="73152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97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B8A6"/>
                </a:solidFill>
              </a:rPr>
              <a:t>INTELLIGENCE LAYER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0540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FAISS Semantic  +  BM25 Lexical  +  Ensemble Scoring  +  Skill Gap Forecast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3438144"/>
            <a:ext cx="0" cy="91440"/>
          </a:xfrm>
          <a:prstGeom prst="line">
            <a:avLst/>
          </a:prstGeom>
          <a:noFill/>
          <a:ln w="1905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47872"/>
            <a:ext cx="8412480" cy="713232"/>
          </a:xfrm>
          <a:prstGeom prst="rect">
            <a:avLst/>
          </a:prstGeom>
          <a:solidFill>
            <a:srgbClr val="11182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47872"/>
            <a:ext cx="7315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02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</a:rPr>
              <a:t>DATA LAYER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38770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In-Memory FAISS  ·  Candidate Profiles  ·  Knowledge Graph  ·  PDF Reports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4074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LLM: Groq Llama-3.3-70b  ·  Embeddings: all-MiniLM-L6-v2  ·  Framework: LangGraph-style Multi-Agent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 advanced ML and AI engineering capabilities that separate us from 95% of submissions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47548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RAG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Hybrid Retrieval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FAISS semantic + BM25 lexical combined for best-of-both retrieval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298448"/>
            <a:ext cx="475488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298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AI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13248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Multi-Agent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13248" y="1481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JD, Resume, Scoring &amp; Bias agents with clear responsibilities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94560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395728"/>
            <a:ext cx="47548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957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∑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24128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Ensemble Scoring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2578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50% LLM + 30% Semantic + 20% BM25 — calibrated confidence score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19456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94560"/>
            <a:ext cx="54864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395728"/>
            <a:ext cx="475488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3957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JD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13248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Multi-JD Matching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2578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Every candidate ranked against all open roles simultaneously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91840"/>
            <a:ext cx="54864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3493008"/>
            <a:ext cx="475488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4930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✓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24128" y="3383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Bias Audit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6758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PII masking + demographic removal + fairness scoring per candidate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29184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29184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3493008"/>
            <a:ext cx="47548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4930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XAI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13248" y="3383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Explainability Engine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13248" y="36758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Matched/missing skills + AI reasoning + dimension scores per hire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16052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16052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" y="4361688"/>
            <a:ext cx="47548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↗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24128" y="4251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Skill Gap Forecast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" y="4544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Learning adaptability + ramp-up time estimate using skill proximity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160520"/>
            <a:ext cx="41148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160520"/>
            <a:ext cx="54864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8032" y="4361688"/>
            <a:ext cx="475488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120"/>
                </a:solidFill>
              </a:rPr>
              <a:t>@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13248" y="4251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Email Automation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13248" y="4544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Pre-written rejection + AI-personalized selection emails with SMTP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Tech Stack &amp; 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choice was deliberate — justified by performance, cost, and engineering best practices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366F1"/>
                </a:solidFill>
              </a:rPr>
              <a:t>LLM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Llama-3.3-70b via Groq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3–5x faster than GPT-4o. Free tier. Same quality for structured extraction.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521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3B82F6"/>
                </a:solidFill>
              </a:rPr>
              <a:t>Embeddings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all-MiniLM-L6-v2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6093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Strong open-source model. No API cost. 384-dim vectors, fast inference.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29968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84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14B8A6"/>
                </a:solidFill>
              </a:rPr>
              <a:t>Vector DB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23225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FAISS (in-memory)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Millisecond semantic search. No external service needed for demo.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029968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029968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84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Lexical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23225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BM25 (rank-bm25)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5420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Catches exact keyword matches embeddings miss — 'RAG', 'LangChain' etc.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62656"/>
            <a:ext cx="54864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17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2C55E"/>
                </a:solidFill>
              </a:rPr>
              <a:t>Agents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32552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LangGraph-style Multi-Agent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Single-responsibility agents. Debuggable, testable, production pattern.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62656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59E0B"/>
                </a:solidFill>
              </a:rPr>
              <a:t>Resume Parse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32552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PyMuPDF + spaCy + LLM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Three-layer extraction: OCR → NLP → LLM for maximum accuracy.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895344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895344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50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3B82F6"/>
                </a:solidFill>
              </a:rPr>
              <a:t>Dashboard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" y="4187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Streamlit + Custom CSS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4074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Multi-page app with sidebar nav, dark theme, enterprise-grade UI.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895344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895344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50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Security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46320" y="4187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Pydantic + .env + masking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4074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injection defense + PII masking + structured output validation.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Security &amp; Bias Mitigation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Mandatory graded component — implemented across every layer of the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3776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Our Implementation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859536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🔒  Prompt Injection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5361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Regex pattern matching on all inputs + deny-list before any LLM call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502920"/>
          </a:xfrm>
          <a:prstGeom prst="rect">
            <a:avLst/>
          </a:prstGeom>
          <a:solidFill>
            <a:srgbClr val="0B11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👤  PII Exposure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Phone, email, Aadhaar masked with regex before sending to Groq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700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⚖️  Demographic Bias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670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Gender pronouns, age, names masked → blind scoring for fairness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45536"/>
            <a:ext cx="8595360" cy="502920"/>
          </a:xfrm>
          <a:prstGeom prst="rect">
            <a:avLst/>
          </a:prstGeom>
          <a:solidFill>
            <a:srgbClr val="0B11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36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🔑  API Key Exposure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2369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.env + python-dotenv; .env in .gitignore; never hardcoded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859536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🧠  Hallucination Risk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8039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Structured JSON output + Pydantic validation + confidence thresholds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8595360" cy="502920"/>
          </a:xfrm>
          <a:prstGeom prst="rect">
            <a:avLst/>
          </a:prstGeom>
          <a:solidFill>
            <a:srgbClr val="0B11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708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🌐  Unauthorised Access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370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Local deployment only; no exposed public endpoints in prototype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Results &amp; Demo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Tested with 4 resumes designed to validate scoring accuracy and bias detection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15361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Arjun Mehta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2C55E"/>
                </a:solidFill>
              </a:rPr>
              <a:t>STRONG HIRE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82%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Hiring Match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3736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8.4/10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Score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1752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406908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97280"/>
            <a:ext cx="54864" cy="15361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Priya Sharma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4B8A6"/>
                </a:solidFill>
              </a:rPr>
              <a:t>HIRE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76%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Hiring Match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8076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7.8/10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Score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6092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2176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Bias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406908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788920"/>
            <a:ext cx="54864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Mohammed Al-Rashid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1546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</a:rPr>
              <a:t>MAYBE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51%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Hiring Match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3736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4.9/10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Score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1752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LOW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1752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Bias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17720" y="2788920"/>
            <a:ext cx="406908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788920"/>
            <a:ext cx="54864" cy="15361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Riya Verma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1546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</a:rPr>
              <a:t>NO HIRE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27%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060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Hiring Match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8076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2.8/10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8076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Score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60920" y="3538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HIGH ⚠️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60920" y="3867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Bias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</a:rPr>
              <a:t>Riya Verma's resume contained 'Age: 21 | Female' — bias agent correctly flagged HIGH risk and applied demographic masking.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Scoring Model &amp; Ensemble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biggest ML differentiator — a calibrated weighted ensemble rather than a single LLM prompt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Dimension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423160" y="10789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Weight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0" y="1078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 — Poor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92040" y="1078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5 — Average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1078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10 — Excellent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85953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447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Skills Match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53619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5361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&lt; 30% skills match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5361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50–70% match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&gt; 85% skills match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8595360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56816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48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Experience Relevance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2048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25%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0482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Unrelated domain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0482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Adjacent domain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0" y="2048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Exact domain + seniority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68880"/>
            <a:ext cx="85953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468880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60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Project Portfolio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3160" y="25603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20%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5603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 evidence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25603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1–2 generic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Strong relevant portfolio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980944"/>
            <a:ext cx="8595360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980944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72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Education &amp; Certs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307238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15%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Below minimum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Meets minimum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0" y="30723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Exceeds + extra certs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493008"/>
            <a:ext cx="85953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493008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584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Communication Quality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3584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10%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584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Poor structure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92040" y="3584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Adequate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83680" y="3584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Crisp, structured, impactful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0A0F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114800"/>
            <a:ext cx="8595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  =  0.50 × LLM Score  +  0.30 × Semantic Similarity  +  0.20 × BM25 Score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Key Learnings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Hybrid retrieval beats pure prompting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124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BM25 catches keywords embeddings miss — both are necessary for precision hiring.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Multi-agent &gt; monolithic prompts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Single-responsibility agents are debuggable, testable, and production-ready.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Bias is a data problem, not just a UI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Masking must happen before the LLM call — not in the display layer.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Confidence scores matter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 score without uncertainty is dangerous. HR needs to know when to trust AI.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</a:rPr>
              <a:t>Explainability builds trust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416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HR adopts AI faster when they can read WHY a candidate was shortlisted.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274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What's Next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2062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868680"/>
            <a:ext cx="54864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923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PostgreSQL audit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197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Persist all HR overrides and pipeline runs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673352"/>
            <a:ext cx="42062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67335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728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Langfuse observability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0025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Track prompts, latency, token usage in prod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478024"/>
            <a:ext cx="42062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478024"/>
            <a:ext cx="54864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Cross-encoder reranking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Add ms-marco reranker for seniority matching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282696"/>
            <a:ext cx="42062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282696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337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Feedback learning loop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Retrain ensemble weights from HR override history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4087368"/>
            <a:ext cx="42062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087368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42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LinkedIn URL via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416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Integrate RapidAPI for direct URL ingestion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617720"/>
            <a:ext cx="420624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617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github.com/itsankush13/talent-intelligence-system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Slide 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Intelligence System</dc:title>
  <dc:subject>PptxGenJS Presentation</dc:subject>
  <dc:creator>AI Enablement Internship</dc:creator>
  <cp:lastModifiedBy>AI Enablement Internship</cp:lastModifiedBy>
  <cp:revision>1</cp:revision>
  <dcterms:created xsi:type="dcterms:W3CDTF">2026-05-11T04:27:04Z</dcterms:created>
  <dcterms:modified xsi:type="dcterms:W3CDTF">2026-05-11T04:27:04Z</dcterms:modified>
</cp:coreProperties>
</file>